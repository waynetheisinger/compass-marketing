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10.xml" ContentType="application/vnd.openxmlformats-officedocument.theme+xml"/>
  <Override PartName="/ppt/theme/theme8.xml" ContentType="application/vnd.openxmlformats-officedocument.theme+xml"/>
  <Override PartName="/ppt/theme/theme11.xml" ContentType="application/vnd.openxmlformats-officedocument.theme+xml"/>
  <Override PartName="/ppt/theme/theme9.xml" ContentType="application/vnd.openxmlformats-officedocument.theme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1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_rels/slide13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9" r:id="rId6"/>
    <p:sldMasterId id="2147483661" r:id="rId7"/>
    <p:sldMasterId id="2147483663" r:id="rId8"/>
    <p:sldMasterId id="2147483665" r:id="rId9"/>
    <p:sldMasterId id="2147483667" r:id="rId10"/>
    <p:sldMasterId id="2147483669" r:id="rId11"/>
    <p:sldMasterId id="2147483671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63570D-FD73-4D23-A3E3-A12873A8E6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DF79AF-F1FF-408D-8640-6FCC75AE85B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C892B54-7770-457D-9C13-5901F8E9FF8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D8A4AC7-C711-461F-8ABB-39554407AB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22A84EA-408C-42FF-86B0-FAB4AE59BDB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8A32B02-37C8-4318-9A99-C777B6D4AC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1400C48-F1C0-416F-8B6A-768F82D9FB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1F64510-069B-43DD-AEDE-85CF9532CF9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9BD42282-F4BD-442D-932E-EC62A1BE00F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3283851D-C507-4C31-8635-F013E013C57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6365D29-F790-4B6D-8331-202310DAC42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5D53853-787D-4677-8EC3-CDDFBFF97C4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72CF7248-C4FC-4B69-8FCD-9D677C3F884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C61310A2-45F6-4BEC-A325-2AEE563AC9C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8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9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10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11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2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3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6608424-06DA-4F32-8075-9294D80E466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edit 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Master 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text 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styles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Secon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d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level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Thir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d 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leve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o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u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r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h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l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e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v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e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i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h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l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e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v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e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D64D8BC-F8F8-484E-B89B-E45FF57157D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4B3213-9C0B-4A41-B072-2A4581FEC20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FA2F1A-8ED4-45F0-B34C-BB1D4C107E7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  <p:sldLayoutId id="2147483656" r:id="rId3"/>
    <p:sldLayoutId id="2147483657" r:id="rId4"/>
    <p:sldLayoutId id="2147483658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1B84AC7-C1C1-4B33-8608-48818A64CAE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6FA8EED-B50E-4EF8-9811-A636E7818E8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BD1866B-4B11-422F-B410-677238E8775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51220BC-56D0-4C4A-B77B-32432DD08F1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283A36-472E-4404-B6FE-E167EEAE58C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A1C0F4D-30CE-4E9E-A2AB-BDE4C5CAF07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2F6D8C4-8A25-40C5-AA0C-779A0844459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Emergency Marketing Response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GB" sz="3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MowDirect — Strait of Hormuz Crisis Response</a:t>
            </a:r>
            <a:endParaRPr b="0" lang="en-GB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GB" sz="3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14 April 2026 | Confidential</a:t>
            </a:r>
            <a:endParaRPr b="0" lang="en-GB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Market Situation: Strait of Hormuz Crisis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600" strike="noStrike" u="none">
                <a:solidFill>
                  <a:schemeClr val="dk1"/>
                </a:solidFill>
                <a:uFillTx/>
                <a:latin typeface="Calibri"/>
              </a:rPr>
              <a:t>Naval blockade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 — 94% collapse in commercial shipping through Hormuz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600" strike="noStrike" u="none">
                <a:solidFill>
                  <a:schemeClr val="dk1"/>
                </a:solidFill>
                <a:uFillTx/>
                <a:latin typeface="Calibri"/>
              </a:rPr>
              <a:t>Oil above $100/barrel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 — 20M barrels/day shortfall, European fuel up &gt;20%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600" strike="noStrike" u="none">
                <a:solidFill>
                  <a:schemeClr val="dk1"/>
                </a:solidFill>
                <a:uFillTx/>
                <a:latin typeface="Calibri"/>
              </a:rPr>
              <a:t>Consumer retreat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 — Households cutting back on petrol-powered purchases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600" strike="noStrike" u="none">
                <a:solidFill>
                  <a:schemeClr val="dk1"/>
                </a:solidFill>
                <a:uFillTx/>
                <a:latin typeface="Calibri"/>
              </a:rPr>
              <a:t>Supply disruption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 — Petrol mower supply chains disrupted for coming weeks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600" strike="noStrike" u="none">
                <a:solidFill>
                  <a:schemeClr val="dk1"/>
                </a:solidFill>
                <a:uFillTx/>
                <a:latin typeface="Calibri"/>
              </a:rPr>
              <a:t>Manufacturing surcharges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 — Up to 30% on raw materials and packaging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The Accelerating Shift to Cordless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Rising fuel costs making petrol mower ownership significantly more expensive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Battery mower market growing at 6.7% CAGR — crisis is accelerating this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Consumers save £100-£200/year on servicing and fuel by switching to cordless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Cordless entry price now competitive with petrol (£120-£180 vs £130-£190)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'Painful and quick' transition toward electric alternatives underway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Sales Impact: Daily Run Rate Down -53%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March 2026: £504,277 net sales | 1815 orders (31 days)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April 1-14: £107,574 net sales | 438 orders (14 days)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</a:pP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March daily average: £16,267/day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April daily average: £7,684/day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Overall daily run rate change: -53%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Petrol vs Cordless Performance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Petrol: £489,685 (March) → £101,047 (April) | Daily rate: -54%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Cordless: £1,125 (March) → £250 (April) | Daily rate: -51%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</a:pP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Petrol products dominate revenue but are seeing steeper decline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Cordless range needs better website presentation to capture opportunity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Fuel cans: £10,569 in March — consumers are stocking up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Top Selling Products — April 2026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1. Spectrum TG46SE 3-in-1 Self-Propelled Petrol Lawnmower  — £14,205 (petrol)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1. Mountfield MTF66M Compact Rear-Collect &amp; Side-Discharge — £9,702 (petrol)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1. Spectrum TG51PD Self-Propelled Petrol Lawnmower (Amazon — £9,542 (petrol)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1. Spectrum TG40SE Self-Propelled Petrol Lawnmower with El — £9,165 (petrol)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1. Spectrum TG40PD Self-Propelled Petrol Lawnmower — £6,749 (petrol)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</a:pP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Petrol products still dominate but daily rates are declining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Strategic Response: Three Pillars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600" strike="noStrike" u="none">
                <a:solidFill>
                  <a:schemeClr val="dk1"/>
                </a:solidFill>
                <a:uFillTx/>
                <a:latin typeface="Calibri"/>
              </a:rPr>
              <a:t>Pillar 1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 — Accelerate Spectrum Cordless — bundles, ecosystem page, lifestyle imagery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600" strike="noStrike" u="none">
                <a:solidFill>
                  <a:schemeClr val="dk1"/>
                </a:solidFill>
                <a:uFillTx/>
                <a:latin typeface="Calibri"/>
              </a:rPr>
              <a:t>Pillar 2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 — Reframe Petrol Range — fuel efficiency kits, TCO messaging, trade-in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600" strike="noStrike" u="none">
                <a:solidFill>
                  <a:schemeClr val="dk1"/>
                </a:solidFill>
                <a:uFillTx/>
                <a:latin typeface="Calibri"/>
              </a:rPr>
              <a:t>Pillar 3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 — Messaging Pivot — homepage, email, social, SEO, marketplace listings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</a:pP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Factory partner investment of up to £1M demands urgency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3-month cash window — every day of delay = missed opportunity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Pillar 1: Accelerate Spectrum Cordless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600" strike="noStrike" u="none">
                <a:solidFill>
                  <a:schemeClr val="dk1"/>
                </a:solidFill>
                <a:uFillTx/>
                <a:latin typeface="Calibri"/>
              </a:rPr>
              <a:t>Complete kits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 — Every tool available as tool + battery + charger at one price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600" strike="noStrike" u="none">
                <a:solidFill>
                  <a:schemeClr val="dk1"/>
                </a:solidFill>
                <a:uFillTx/>
                <a:latin typeface="Calibri"/>
              </a:rPr>
              <a:t>Bundle clarity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 — 46cm mower clearly shows 2x battery requirement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600" strike="noStrike" u="none">
                <a:solidFill>
                  <a:schemeClr val="dk1"/>
                </a:solidFill>
                <a:uFillTx/>
                <a:latin typeface="Calibri"/>
              </a:rPr>
              <a:t>Ecosystem page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 — 'One battery powers everything' — visual map of all 40V tools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600" strike="noStrike" u="none">
                <a:solidFill>
                  <a:schemeClr val="dk1"/>
                </a:solidFill>
                <a:uFillTx/>
                <a:latin typeface="Calibri"/>
              </a:rPr>
              <a:t>Lifestyle imagery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 — Real gardens, real use — source from factory partner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600" strike="noStrike" u="none">
                <a:solidFill>
                  <a:schemeClr val="dk1"/>
                </a:solidFill>
                <a:uFillTx/>
                <a:latin typeface="Calibri"/>
              </a:rPr>
              <a:t>Richer descriptions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 — Use cases, garden sizes, runtime, petrol comparison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Pillar 2 &amp; 3: Petrol Reframe + Messaging Pivot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600" strike="noStrike" u="none">
                <a:solidFill>
                  <a:schemeClr val="dk1"/>
                </a:solidFill>
                <a:uFillTx/>
                <a:latin typeface="Calibri"/>
              </a:rPr>
              <a:t>Fuel Crisis Kits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 — Mower + jerry can + stabiliser + cost guide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600" strike="noStrike" u="none">
                <a:solidFill>
                  <a:schemeClr val="dk1"/>
                </a:solidFill>
                <a:uFillTx/>
                <a:latin typeface="Calibri"/>
              </a:rPr>
              <a:t>Efficiency badges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 — 'Only 0.8L/hr — mow for £2.50' on all petrol listings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600" strike="noStrike" u="none">
                <a:solidFill>
                  <a:schemeClr val="dk1"/>
                </a:solidFill>
                <a:uFillTx/>
                <a:latin typeface="Calibri"/>
              </a:rPr>
              <a:t>Trade-in programme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 — £30-£50 credit: old petrol mower → Spectrum cordless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600" strike="noStrike" u="none">
                <a:solidFill>
                  <a:schemeClr val="dk1"/>
                </a:solidFill>
                <a:uFillTx/>
                <a:latin typeface="Calibri"/>
              </a:rPr>
              <a:t>Homepage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 — 'No fuel. No fumes. No worries.' — cordless-first hero banner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600" strike="noStrike" u="none">
                <a:solidFill>
                  <a:schemeClr val="dk1"/>
                </a:solidFill>
                <a:uFillTx/>
                <a:latin typeface="Calibri"/>
              </a:rPr>
              <a:t>Email (Klaviyo??)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 — Segmented: past petrol buyers, cordless browsers, all customers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600" strike="noStrike" u="none">
                <a:solidFill>
                  <a:schemeClr val="dk1"/>
                </a:solidFill>
                <a:uFillTx/>
                <a:latin typeface="Calibri"/>
              </a:rPr>
              <a:t>Cost calculator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 — Interactive 5-year TCO comparison on product pages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Additional Opportunities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Marketplace: update titles, boost cordless Promoted Listings +50%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Google Ads: reallocate -30% petrol → +50% cordless campaigns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Fast-track 2-3 influencer partnerships for Spectrum cordless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PR pitch: 'UK retailer sees cordless surge amid fuel crisis'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Stock reallocation: prioritise highest-converting channels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'Green Garden Weekend' flash sale: 10% off + free battery upgrade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Amplify Spectrum 5-year warranty — confidence in uncertain times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Implementation Roadmap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600" strike="noStrike" u="none">
                <a:solidFill>
                  <a:schemeClr val="dk1"/>
                </a:solidFill>
                <a:uFillTx/>
                <a:latin typeface="Calibri"/>
              </a:rPr>
              <a:t>Week 1 (14-20 Apr)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 — Homepage, bundles, email blast, Ads reallocation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600" strike="noStrike" u="none">
                <a:solidFill>
                  <a:schemeClr val="dk1"/>
                </a:solidFill>
                <a:uFillTx/>
                <a:latin typeface="Calibri"/>
              </a:rPr>
              <a:t>Week 2 (21-27 Apr)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 — Ecosystem page, Fuel Crisis Kits, marketplace updates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600" strike="noStrike" u="none">
                <a:solidFill>
                  <a:schemeClr val="dk1"/>
                </a:solidFill>
                <a:uFillTx/>
                <a:latin typeface="Calibri"/>
              </a:rPr>
              <a:t>Week 3 (28 Apr-4 May)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 — Trade-in launch, blog/SEO, social series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600" strike="noStrike" u="none">
                <a:solidFill>
                  <a:schemeClr val="dk1"/>
                </a:solidFill>
                <a:uFillTx/>
                <a:latin typeface="Calibri"/>
              </a:rPr>
              <a:t>Week 4+ (May)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 — Cost calculator, photography, optimisation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Investment &amp; Resource Requirements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Shopify development (bundles, pages, calculator): £2,000 - £3,500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Marketplace Promoted Listings uplift: £500 - £1,000/month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Influencer partnerships: £1,500 - £3,000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Trade-in programme setup: £500 - £1,000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Content creation: £500 - £1,000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</a:pP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Total estimated investment: £5,000 - £10,000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Google Ads reallocation is budget-neutral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ROI target: offset petrol decline + capture cordless growth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Summary &amp; Next Steps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The fuel crisis is both a threat (petrol decline) and opportunity (cordless growth)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Factory partner has £1M invested — rapid execution required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3-month cash runway means every week counts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Petrol mower shortages = low hanging fruit for cordless conversion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Spectrum 40V ecosystem is ready — website presentation must catch up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</a:pP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ACTION: approve this plan and resource Week 1 immediately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LibreOffice/24.8.4.2$MacOSX_X86_64 LibreOffice_project/bb3cfa12c7b1bf994ecc5649a80400d06cd71002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en-GB</dc:language>
  <cp:lastModifiedBy/>
  <dcterms:modified xsi:type="dcterms:W3CDTF">2026-04-14T09:30:07Z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